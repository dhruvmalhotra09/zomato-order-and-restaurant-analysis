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notesMasterIdLst>
    <p:notesMasterId r:id="rId15"/>
  </p:notesMasterIdLst>
  <p:sldIdLst>
    <p:sldId id="256" r:id="rId2"/>
    <p:sldId id="274" r:id="rId3"/>
    <p:sldId id="259" r:id="rId4"/>
    <p:sldId id="260" r:id="rId5"/>
    <p:sldId id="262" r:id="rId6"/>
    <p:sldId id="264" r:id="rId7"/>
    <p:sldId id="265" r:id="rId8"/>
    <p:sldId id="267" r:id="rId9"/>
    <p:sldId id="269" r:id="rId10"/>
    <p:sldId id="271" r:id="rId11"/>
    <p:sldId id="273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3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53A6C-978E-43C1-88E9-7FD4E6C8499C}" v="153" dt="2025-08-29T19:19:14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41F1D-AB34-45ED-94EB-0BC96D61A4C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706CF-C92A-4A31-9117-5645E8619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58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459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FD42-3817-73E2-2E8C-2A0FB477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C5A60-E284-BD56-1A04-CD90875A0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D813F-53AC-F005-6F6A-1A28A26DB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88698-1389-5213-FF77-964C8DFCA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675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96C6-57A3-B71C-A0C1-C8F1D064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C36CC-2750-D730-BF12-FE41C9958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926CB-5940-39FC-7397-AF54B71F4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4A957-2F65-B9E6-E539-8B05630AA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354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91E6-4BE7-A7EC-554D-6515EFF8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5403A-E743-49C8-BB26-7DC1FB657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40109-77AE-7D13-0471-6E9DB1B3A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19B43-C8D9-6EED-CE1A-3EF06F581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05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78A0-38E5-9170-837E-8A88C73D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37253-C1AD-EF69-AFEA-09492024F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28BF7-02C9-CAB4-53DD-A318DDD6D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D8669-CE03-4959-DCD9-3D2D6CD61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245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1EC1-225A-2E50-92C7-49ADAEEA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8A2C2-2F7A-C40F-1CD0-7F2B7F58A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431BA-D33D-F239-EA98-752733782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34659-F002-774C-8D96-383D97DF4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40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F51EC-2726-310A-45BE-BF9F8B84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E00B8-F714-3357-806B-E81EEB819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6FE1A-AD49-020A-E97A-E8F4B5D76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061B1-D069-2EF0-4D09-14A1EC4A1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347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928A7-EE90-2F22-8B51-BD144740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18815-8898-461C-34BD-6E0BCFC8B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AF493-8D27-89ED-3784-FDBBC2FE0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B04FB-6055-6B73-A645-9BB5AE203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87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A627-B562-AABD-D5FC-352B806B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240B1-8502-936B-FB50-F34D17972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AE396-55B4-8BED-2C1E-1D066CD88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6A233-CCAB-97C8-F09E-0E8F23E98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706CF-C92A-4A31-9117-5645E8619EF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81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93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78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26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38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1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3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87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886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12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77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85862E2-E55D-42C3-A956-DC91A19ACE2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DD51EDDA-5DD5-499F-8353-1AEE8C492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72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4648-0DB8-3F28-82DF-60D454540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15" y="831273"/>
            <a:ext cx="7139976" cy="3722439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 Order &amp; Restaurant Analysis Using Power BI</a:t>
            </a:r>
            <a:endParaRPr lang="en-IN" sz="6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725AF-2314-7953-2D52-9BB8ED0A2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4687209"/>
            <a:ext cx="5550167" cy="442081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Turning Data into Actionable Business Insights</a:t>
            </a:r>
            <a:endParaRPr lang="en-IN" sz="2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06BF0-F984-8307-0045-FEF686B8B9DB}"/>
              </a:ext>
            </a:extLst>
          </p:cNvPr>
          <p:cNvSpPr txBox="1"/>
          <p:nvPr/>
        </p:nvSpPr>
        <p:spPr>
          <a:xfrm>
            <a:off x="10093037" y="6211669"/>
            <a:ext cx="209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by: </a:t>
            </a:r>
            <a:r>
              <a:rPr lang="en-I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Dhruv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</a:t>
            </a:r>
            <a:r>
              <a:rPr lang="en-I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August 2025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883BC0-9698-8B50-2191-1F7416555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80"/>
          <a:stretch>
            <a:fillRect/>
          </a:stretch>
        </p:blipFill>
        <p:spPr>
          <a:xfrm>
            <a:off x="9351818" y="2197677"/>
            <a:ext cx="2840182" cy="246264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82B724-AA45-A336-C689-D769CCD3DE15}"/>
              </a:ext>
            </a:extLst>
          </p:cNvPr>
          <p:cNvSpPr/>
          <p:nvPr/>
        </p:nvSpPr>
        <p:spPr>
          <a:xfrm>
            <a:off x="9351818" y="831273"/>
            <a:ext cx="2840182" cy="13664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37276-59BA-8506-2DDB-44DFA3AB269C}"/>
              </a:ext>
            </a:extLst>
          </p:cNvPr>
          <p:cNvSpPr/>
          <p:nvPr/>
        </p:nvSpPr>
        <p:spPr>
          <a:xfrm>
            <a:off x="9351818" y="4660323"/>
            <a:ext cx="2840182" cy="13664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8AEA99-5A1C-1F6C-4394-B71D01BB5EF4}"/>
              </a:ext>
            </a:extLst>
          </p:cNvPr>
          <p:cNvCxnSpPr/>
          <p:nvPr/>
        </p:nvCxnSpPr>
        <p:spPr>
          <a:xfrm>
            <a:off x="12192000" y="2197677"/>
            <a:ext cx="0" cy="248953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1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D908-EBD5-877F-6D19-EE1343CB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Roadmap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18A4-3F58-137D-73D9-130356E48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Restaurants per City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 of Orders from Different Cities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Amount Trends Over Time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of Factors Affecting Average Rating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Restaurants by Total Sales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by Area (Tree Map)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Density by City (Heat Map &amp; Matrix)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Cards – Total Revenue, Orders &amp; AOV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Restaurant-Wise Sales Summary (Table)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Dashboard – Combined Insights</a:t>
            </a:r>
          </a:p>
        </p:txBody>
      </p:sp>
    </p:spTree>
    <p:extLst>
      <p:ext uri="{BB962C8B-B14F-4D97-AF65-F5344CB8AC3E}">
        <p14:creationId xmlns:p14="http://schemas.microsoft.com/office/powerpoint/2010/main" val="355954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71E6-5080-B52C-4E7C-D6EFB03E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E7CE7-C246-5FC4-B3B0-492347F27A74}"/>
              </a:ext>
            </a:extLst>
          </p:cNvPr>
          <p:cNvSpPr txBox="1"/>
          <p:nvPr/>
        </p:nvSpPr>
        <p:spPr>
          <a:xfrm>
            <a:off x="4782299" y="225143"/>
            <a:ext cx="5840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Number of Restaurants per City</a:t>
            </a:r>
            <a:endParaRPr lang="en-IN" sz="2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55EA5E15-A42E-0FE8-E5F3-00D0D80BB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898" t="8665" r="12206" b="5903"/>
          <a:stretch>
            <a:fillRect/>
          </a:stretch>
        </p:blipFill>
        <p:spPr>
          <a:xfrm>
            <a:off x="8162" y="748363"/>
            <a:ext cx="3400056" cy="5309538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377C2E-589F-A051-9892-F2D6AB344E32}"/>
              </a:ext>
            </a:extLst>
          </p:cNvPr>
          <p:cNvSpPr txBox="1"/>
          <p:nvPr/>
        </p:nvSpPr>
        <p:spPr>
          <a:xfrm>
            <a:off x="3680410" y="4693737"/>
            <a:ext cx="8044744" cy="1939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partnerships and promotions in top metros (Mumbai, Bangalore).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growth initiatives in Delhi, Kolkata, and Chennai to balance market share.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into Tier-2 and Tier-3 cities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competition is lower and untapped demand exists.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E59D7-4026-314F-E084-BD240AD10B4F}"/>
              </a:ext>
            </a:extLst>
          </p:cNvPr>
          <p:cNvSpPr txBox="1"/>
          <p:nvPr/>
        </p:nvSpPr>
        <p:spPr>
          <a:xfrm>
            <a:off x="3680410" y="2221614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Mumbai (115) and Bangalore (109) have the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largest share of restaurants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higher supply and food demand.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Delhi (93), Kolkata (92), and Chennai (91) are close in count, indicating a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distribution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among them.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restaurant density is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concentrated in metro cities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relatively small variation between them.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792EC-8356-B841-98A5-1731E5B53B1A}"/>
              </a:ext>
            </a:extLst>
          </p:cNvPr>
          <p:cNvSpPr txBox="1"/>
          <p:nvPr/>
        </p:nvSpPr>
        <p:spPr>
          <a:xfrm>
            <a:off x="3680410" y="1069981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Analyze the distribution of restaurants across the five cities to identify which have the highest and lowest restaurant presence.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2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EFA6D-48E1-8F6B-EAF6-0DD6A510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3253E3-2BCA-CA04-E70E-A2E9818A7098}"/>
              </a:ext>
            </a:extLst>
          </p:cNvPr>
          <p:cNvSpPr txBox="1"/>
          <p:nvPr/>
        </p:nvSpPr>
        <p:spPr>
          <a:xfrm>
            <a:off x="3960541" y="256601"/>
            <a:ext cx="748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Percentage of Orders from Different Cities</a:t>
            </a:r>
            <a:endParaRPr lang="en-IN" sz="2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310F4-F342-C0F8-3465-7F6FC064652A}"/>
              </a:ext>
            </a:extLst>
          </p:cNvPr>
          <p:cNvSpPr txBox="1"/>
          <p:nvPr/>
        </p:nvSpPr>
        <p:spPr>
          <a:xfrm>
            <a:off x="3680410" y="4614181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retention and marketing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Mumbai and Bangalore, where order contribution is highest.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Delhi, Kolkata, and Chennai’s steady demand by running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localized offers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push their share higher.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Tier-2 and Tier-3 cities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future growth, as metro markets are already evenly saturated.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4BC2C-1814-2C7B-ECE4-F24D6E3A9159}"/>
              </a:ext>
            </a:extLst>
          </p:cNvPr>
          <p:cNvSpPr txBox="1"/>
          <p:nvPr/>
        </p:nvSpPr>
        <p:spPr>
          <a:xfrm>
            <a:off x="3680410" y="2197896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Mumbai (22.56%) and Bangalore (22%) are the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contributors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together accounting for nearly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45% of total orders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Delhi contributes 19%, while Kolkata (18.2%) and Chennai (18.1%) show almost identical order volumes.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distribution is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fairly balanced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the five cities, with no city showing extremely low demand.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AE8AB-0311-56CC-BA9D-65B1AC2F66CA}"/>
              </a:ext>
            </a:extLst>
          </p:cNvPr>
          <p:cNvSpPr txBox="1"/>
          <p:nvPr/>
        </p:nvSpPr>
        <p:spPr>
          <a:xfrm>
            <a:off x="3680410" y="1069981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Understand which cities contribute the most to total orders and how demand varies across regions.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10D232-369F-E6E0-1B23-3523C5F14A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7" t="10229" r="11132" b="6731"/>
          <a:stretch>
            <a:fillRect/>
          </a:stretch>
        </p:blipFill>
        <p:spPr>
          <a:xfrm>
            <a:off x="0" y="779821"/>
            <a:ext cx="3449256" cy="533992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5790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7ED0-EC76-9590-DD8C-33AFA031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314F41-2F91-DDDB-FD3C-B3DFA2544115}"/>
              </a:ext>
            </a:extLst>
          </p:cNvPr>
          <p:cNvSpPr txBox="1"/>
          <p:nvPr/>
        </p:nvSpPr>
        <p:spPr>
          <a:xfrm>
            <a:off x="4715813" y="225142"/>
            <a:ext cx="5973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Amount Trends Over Time</a:t>
            </a:r>
            <a:endParaRPr lang="en-IN" sz="2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E0BAB-CFDA-FAA9-D677-1F00E9EC634B}"/>
              </a:ext>
            </a:extLst>
          </p:cNvPr>
          <p:cNvSpPr txBox="1"/>
          <p:nvPr/>
        </p:nvSpPr>
        <p:spPr>
          <a:xfrm>
            <a:off x="3680410" y="4301748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April’s peak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likely seasonal demand (festivals, holidays) → replicate marketing strategies during similar periods.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 the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June dip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launching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 campaigns or promotions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balance demand.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consistent engagement strategies during stable months to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 revenue baseline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8F146-82D1-94AE-9D8F-280677C029FA}"/>
              </a:ext>
            </a:extLst>
          </p:cNvPr>
          <p:cNvSpPr txBox="1"/>
          <p:nvPr/>
        </p:nvSpPr>
        <p:spPr>
          <a:xfrm>
            <a:off x="3680410" y="2345707"/>
            <a:ext cx="8044744" cy="1634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peaked in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April (1.38M)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the highest sales during the year.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lowest point was in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June (1.26M)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after a sharp decline from April.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revenue remains fairly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between 1.26M–1.33M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most months, with only a few spikes/dips.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FBAFE-24AD-03E1-C01B-92F9471DCC2C}"/>
              </a:ext>
            </a:extLst>
          </p:cNvPr>
          <p:cNvSpPr txBox="1"/>
          <p:nvPr/>
        </p:nvSpPr>
        <p:spPr>
          <a:xfrm>
            <a:off x="3680410" y="1069981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Analyze how order amounts fluctuate over time to identify peak sales periods and slower months.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DEA2D3-B2F7-EA1A-7956-754AD21D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7" t="6643" r="8716" b="4117"/>
          <a:stretch>
            <a:fillRect/>
          </a:stretch>
        </p:blipFill>
        <p:spPr>
          <a:xfrm>
            <a:off x="0" y="748362"/>
            <a:ext cx="3522517" cy="5371883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</p:spTree>
    <p:extLst>
      <p:ext uri="{BB962C8B-B14F-4D97-AF65-F5344CB8AC3E}">
        <p14:creationId xmlns:p14="http://schemas.microsoft.com/office/powerpoint/2010/main" val="408897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28BE-00E0-80A8-15D1-9ABD4BBD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7E19A6-56CB-87BA-3981-15C6865ECBF5}"/>
              </a:ext>
            </a:extLst>
          </p:cNvPr>
          <p:cNvSpPr txBox="1"/>
          <p:nvPr/>
        </p:nvSpPr>
        <p:spPr>
          <a:xfrm>
            <a:off x="3917861" y="225141"/>
            <a:ext cx="74497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4:</a:t>
            </a:r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Correlation of Factors Affecting Average Rating</a:t>
            </a:r>
            <a:endParaRPr lang="en-IN" sz="26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B45F6-D8C3-E052-3D1F-ECDE40AA77A4}"/>
              </a:ext>
            </a:extLst>
          </p:cNvPr>
          <p:cNvSpPr txBox="1"/>
          <p:nvPr/>
        </p:nvSpPr>
        <p:spPr>
          <a:xfrm>
            <a:off x="3680410" y="4545661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positioning works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Continue promoting higher-priced restaurants but ensure consistency in service to justify ratings.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beyond speed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While fast delivery is important, invest in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quality, packaging, and order accuracy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drive better ratings.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post-order feedback surveys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capture specific dissatisfaction reasons (e.g., late delivery vs food taste), enabling targeted improvements.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1AB9C-2759-C078-8635-5895217BD667}"/>
              </a:ext>
            </a:extLst>
          </p:cNvPr>
          <p:cNvSpPr txBox="1"/>
          <p:nvPr/>
        </p:nvSpPr>
        <p:spPr>
          <a:xfrm>
            <a:off x="3680410" y="1888659"/>
            <a:ext cx="8044744" cy="254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Range vs Avg Rating: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Higher-priced restaurants (premium band) show slightly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ratings on average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variation exists within each band.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Time vs Customer Rating: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Ratings are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 across all delivery times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no strong negative correlation — suggesting food quality and service matter more than speed.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both plots, ratings are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multi-factor driven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determined by a single variable.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DAF600-1E06-9312-67B9-779999DADF94}"/>
              </a:ext>
            </a:extLst>
          </p:cNvPr>
          <p:cNvSpPr txBox="1"/>
          <p:nvPr/>
        </p:nvSpPr>
        <p:spPr>
          <a:xfrm>
            <a:off x="3680410" y="826068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Identify how restaurant attributes (price range) and service factors (delivery time) influence customer ratings.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E1FF25-76A7-CD94-1738-654D19CB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1" t="2726" r="3786" b="3187"/>
          <a:stretch>
            <a:fillRect/>
          </a:stretch>
        </p:blipFill>
        <p:spPr>
          <a:xfrm>
            <a:off x="0" y="717584"/>
            <a:ext cx="3418609" cy="2908843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F7BF6B-747C-8BF9-0B04-B66B253F6B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7" t="3373" r="6738" b="4769"/>
          <a:stretch>
            <a:fillRect/>
          </a:stretch>
        </p:blipFill>
        <p:spPr>
          <a:xfrm>
            <a:off x="0" y="3689031"/>
            <a:ext cx="3418609" cy="2908843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</p:spTree>
    <p:extLst>
      <p:ext uri="{BB962C8B-B14F-4D97-AF65-F5344CB8AC3E}">
        <p14:creationId xmlns:p14="http://schemas.microsoft.com/office/powerpoint/2010/main" val="265823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E0FF7-747B-E2C8-D3CD-62107E99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2E3D63-6CE9-79E3-EE3E-FB5E8E330A2E}"/>
              </a:ext>
            </a:extLst>
          </p:cNvPr>
          <p:cNvSpPr txBox="1"/>
          <p:nvPr/>
        </p:nvSpPr>
        <p:spPr>
          <a:xfrm>
            <a:off x="4715813" y="225142"/>
            <a:ext cx="5973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Restaurants by Total Sales</a:t>
            </a:r>
            <a:endParaRPr lang="en-IN" sz="2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7EB48-8CA6-C992-FEAF-D7007B63D349}"/>
              </a:ext>
            </a:extLst>
          </p:cNvPr>
          <p:cNvSpPr txBox="1"/>
          <p:nvPr/>
        </p:nvSpPr>
        <p:spPr>
          <a:xfrm>
            <a:off x="3680409" y="4669930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partnerships with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high-value restaurants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maintain high average order values.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volume-driven players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Restaurant_127 with promotions and loyalty offers to maximize repeat business.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Restaurant_116’s balanced model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benchmark for sustaining both volume and value growth.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63FD5-37C5-81A0-DC54-DD64F84CCEC2}"/>
              </a:ext>
            </a:extLst>
          </p:cNvPr>
          <p:cNvSpPr txBox="1"/>
          <p:nvPr/>
        </p:nvSpPr>
        <p:spPr>
          <a:xfrm>
            <a:off x="3680409" y="2184897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Restaurant_116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leads with the highest sales (₹50.9K), balancing strong order count and high average order value (~₹1,107).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Restaurant_262, 56, and 27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similar sales (~₹48–49K) with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slightly fewer orders but higher order values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premium positioning.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Restaurant_127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drives sales through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order volume (50 orders)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lower average order value (~₹964), indicating a volume-based model.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CE207-8B78-6DDF-D70A-D11B8016E9D0}"/>
              </a:ext>
            </a:extLst>
          </p:cNvPr>
          <p:cNvSpPr txBox="1"/>
          <p:nvPr/>
        </p:nvSpPr>
        <p:spPr>
          <a:xfrm>
            <a:off x="3680409" y="989576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Identify the highest-earning restaurants and analyze factors contributing to their sales performance.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10555-6FA8-B3EA-F761-39E337D27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5" t="3090" r="3774" b="3662"/>
          <a:stretch>
            <a:fillRect/>
          </a:stretch>
        </p:blipFill>
        <p:spPr>
          <a:xfrm>
            <a:off x="0" y="748362"/>
            <a:ext cx="3522517" cy="5371883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</p:spTree>
    <p:extLst>
      <p:ext uri="{BB962C8B-B14F-4D97-AF65-F5344CB8AC3E}">
        <p14:creationId xmlns:p14="http://schemas.microsoft.com/office/powerpoint/2010/main" val="724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1DDF-5DD5-E0EB-BBBB-68F5116C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59F6C0-EFA6-7BF7-9AC7-DA51D7D13497}"/>
              </a:ext>
            </a:extLst>
          </p:cNvPr>
          <p:cNvSpPr txBox="1"/>
          <p:nvPr/>
        </p:nvSpPr>
        <p:spPr>
          <a:xfrm>
            <a:off x="4445232" y="225142"/>
            <a:ext cx="651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6: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Revenue by Area Using a Tree Map</a:t>
            </a:r>
            <a:endParaRPr lang="en-IN" sz="2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7DF3F-C50D-1D13-3A0B-D423AE4B072A}"/>
              </a:ext>
            </a:extLst>
          </p:cNvPr>
          <p:cNvSpPr txBox="1"/>
          <p:nvPr/>
        </p:nvSpPr>
        <p:spPr>
          <a:xfrm>
            <a:off x="3680410" y="4309482"/>
            <a:ext cx="8044744" cy="254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customer engagement and campaigns in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maintain leadership position.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 strategies from Area 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(balanced order count + order value) to lift performance in Areas C, D, and E.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reasons for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order volume in Area 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fewer partner restaurants, weaker delivery coverage) and address gaps with onboarding or localized offers.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635A6-81F6-D006-2E27-E40B6D214146}"/>
              </a:ext>
            </a:extLst>
          </p:cNvPr>
          <p:cNvSpPr txBox="1"/>
          <p:nvPr/>
        </p:nvSpPr>
        <p:spPr>
          <a:xfrm>
            <a:off x="3680410" y="1964470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the highest share (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22% revenue, ₹3.39M, 3,276 orders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with strong presence in Bangalore and Mumbai.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Areas B, C, and 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contribute around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20% revenue (~₹3.0M each)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balanced performance across these zones.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lags slightly at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19% revenue (₹2.9M)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despite comparable average order value (~₹1,044), suggesting relatively fewer orders.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D98D0-C056-90CC-D972-77532514CD69}"/>
              </a:ext>
            </a:extLst>
          </p:cNvPr>
          <p:cNvSpPr txBox="1"/>
          <p:nvPr/>
        </p:nvSpPr>
        <p:spPr>
          <a:xfrm>
            <a:off x="3680410" y="909170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Analyze revenue distribution across different areas to identify high-performing and underperforming zones within cities.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4EF849-7A2D-A1AA-9DC2-F1DE1A39F9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7" r="3655" b="1743"/>
          <a:stretch>
            <a:fillRect/>
          </a:stretch>
        </p:blipFill>
        <p:spPr>
          <a:xfrm>
            <a:off x="0" y="748362"/>
            <a:ext cx="3441805" cy="5548747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</p:spTree>
    <p:extLst>
      <p:ext uri="{BB962C8B-B14F-4D97-AF65-F5344CB8AC3E}">
        <p14:creationId xmlns:p14="http://schemas.microsoft.com/office/powerpoint/2010/main" val="418232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1045-821A-5334-9068-AAFE4F24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339949-9E6B-9669-6C6C-63FFAE27FFD8}"/>
              </a:ext>
            </a:extLst>
          </p:cNvPr>
          <p:cNvSpPr txBox="1"/>
          <p:nvPr/>
        </p:nvSpPr>
        <p:spPr>
          <a:xfrm>
            <a:off x="4119165" y="225142"/>
            <a:ext cx="7167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7: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Density by City Using a Heat Map</a:t>
            </a:r>
            <a:endParaRPr lang="en-IN" sz="2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310A-3EE4-1C89-9099-FA6F6BCE182B}"/>
              </a:ext>
            </a:extLst>
          </p:cNvPr>
          <p:cNvSpPr txBox="1"/>
          <p:nvPr/>
        </p:nvSpPr>
        <p:spPr>
          <a:xfrm>
            <a:off x="3680410" y="4599417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planning and partnerships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high-demand hubs like Mumbai and Bangalore to sustain order volumes.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marketing campaigns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Delhi, Kolkata, and Chennai to lift their share closer to the top cities.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Tier-2 city expansion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 metro markets are nearing saturation with evenly spread demand among top 5 cities.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DD5B6-670B-CDA1-EA52-C31E543E4F8A}"/>
              </a:ext>
            </a:extLst>
          </p:cNvPr>
          <p:cNvSpPr txBox="1"/>
          <p:nvPr/>
        </p:nvSpPr>
        <p:spPr>
          <a:xfrm>
            <a:off x="3680410" y="2150877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Mumbai (3,384 orders)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Bangalore (3,300 orders)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 in order density, together contributing nearly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45% of total demand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Delhi (2,857 orders)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moderate demand, slightly above Kolkata (2,732) and Chennai (2,727), which are close in volume.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distribution is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relatively balanced across all five cities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though metro hubs (Mumbai &amp; Bangalore) show stronger demand concentration.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D0D3D-5480-3FEB-A243-CD6070909FF0}"/>
              </a:ext>
            </a:extLst>
          </p:cNvPr>
          <p:cNvSpPr txBox="1"/>
          <p:nvPr/>
        </p:nvSpPr>
        <p:spPr>
          <a:xfrm>
            <a:off x="3680410" y="992049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Analyze order distribution across cities to identify regions with the highest and lowest demand.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99450B-7785-F340-45C9-B208CB6E39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4" t="1800" r="1687" b="3134"/>
          <a:stretch>
            <a:fillRect/>
          </a:stretch>
        </p:blipFill>
        <p:spPr>
          <a:xfrm>
            <a:off x="0" y="748362"/>
            <a:ext cx="3491345" cy="5319929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</p:spTree>
    <p:extLst>
      <p:ext uri="{BB962C8B-B14F-4D97-AF65-F5344CB8AC3E}">
        <p14:creationId xmlns:p14="http://schemas.microsoft.com/office/powerpoint/2010/main" val="65181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D5618-28CA-876B-887B-E3D97FA5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21243-D1F4-B154-8B13-B53401B9EC4A}"/>
              </a:ext>
            </a:extLst>
          </p:cNvPr>
          <p:cNvSpPr txBox="1"/>
          <p:nvPr/>
        </p:nvSpPr>
        <p:spPr>
          <a:xfrm>
            <a:off x="3812401" y="255919"/>
            <a:ext cx="778076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8:</a:t>
            </a:r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KPI Cards – Total Revenue &amp; Average Order Value</a:t>
            </a:r>
            <a:endParaRPr lang="en-IN" sz="26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AECE4-660D-EB9D-1EAD-96F267352DD5}"/>
              </a:ext>
            </a:extLst>
          </p:cNvPr>
          <p:cNvSpPr txBox="1"/>
          <p:nvPr/>
        </p:nvSpPr>
        <p:spPr>
          <a:xfrm>
            <a:off x="3680410" y="4358262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 focusing on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increasing order frequency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loyalty programs to push overall revenue higher.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strategies to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raise AOV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(₹1,040) via upselling combos, add-ons, or premium listings.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 revenue growth over time with these KPIs to monitor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 and expansion opportunities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46621-D4C5-3C73-BC7F-A2E60D11BD86}"/>
              </a:ext>
            </a:extLst>
          </p:cNvPr>
          <p:cNvSpPr txBox="1"/>
          <p:nvPr/>
        </p:nvSpPr>
        <p:spPr>
          <a:xfrm>
            <a:off x="3812401" y="2000155"/>
            <a:ext cx="8044744" cy="224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generated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₹15.57M in total revenue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15K orders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market engagement.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(AOV)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stands at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₹1,040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customers spend consistently across cities.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balanced ratio of orders to revenue suggests a stable pricing and order size distribution across the dataset.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438DC-ABAD-FB5F-9809-CF0DB67003A2}"/>
              </a:ext>
            </a:extLst>
          </p:cNvPr>
          <p:cNvSpPr txBox="1"/>
          <p:nvPr/>
        </p:nvSpPr>
        <p:spPr>
          <a:xfrm>
            <a:off x="3680410" y="931760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Highlight key business performance metrics including revenue, total orders, and average order value for a high-level business overview.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A1592C-635F-2A28-37BA-E40A5A45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" t="2781" r="7187" b="5142"/>
          <a:stretch>
            <a:fillRect/>
          </a:stretch>
        </p:blipFill>
        <p:spPr>
          <a:xfrm>
            <a:off x="0" y="748363"/>
            <a:ext cx="3480955" cy="5351102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</p:spTree>
    <p:extLst>
      <p:ext uri="{BB962C8B-B14F-4D97-AF65-F5344CB8AC3E}">
        <p14:creationId xmlns:p14="http://schemas.microsoft.com/office/powerpoint/2010/main" val="2864130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0535-AFCF-8C06-9559-DEB4A3D4C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F3EC43-859B-3794-712B-F13BA09EDCC6}"/>
              </a:ext>
            </a:extLst>
          </p:cNvPr>
          <p:cNvSpPr txBox="1"/>
          <p:nvPr/>
        </p:nvSpPr>
        <p:spPr>
          <a:xfrm>
            <a:off x="3884123" y="225141"/>
            <a:ext cx="7637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9: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Restaurant-Wise Sales Summary in a Table</a:t>
            </a:r>
            <a:endParaRPr lang="en-IN" sz="2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5E7BB-7C3F-A6FC-9D01-16F505C06FE9}"/>
              </a:ext>
            </a:extLst>
          </p:cNvPr>
          <p:cNvSpPr txBox="1"/>
          <p:nvPr/>
        </p:nvSpPr>
        <p:spPr>
          <a:xfrm>
            <a:off x="3680410" y="4250551"/>
            <a:ext cx="8044744" cy="2092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partnerships with high-performing restaurants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offering premium visibility and promotional support.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restaurants with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order counts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design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onboarding and growth campaigns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(discounts, visibility boosts) to accelerate customer adoption.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focus on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AOV improvement strategies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(combos, upselling) across all restaurants, since spend per order is relatively stable and can be increased gradually.</a:t>
            </a:r>
            <a:endParaRPr lang="en-IN" sz="17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D8883-B8F1-4159-455F-A7B14467C4FC}"/>
              </a:ext>
            </a:extLst>
          </p:cNvPr>
          <p:cNvSpPr txBox="1"/>
          <p:nvPr/>
        </p:nvSpPr>
        <p:spPr>
          <a:xfrm>
            <a:off x="3680410" y="2006278"/>
            <a:ext cx="8044744" cy="2092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restaurants (e.g., Restaurant_116, 262, 56, 27)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~₹49K–₹51K revenue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~40–46 orders, showing strong consistency and customer engagement.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Restaurants with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total revenue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generally also have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fewer orders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may be due to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newer onboarding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lower visibility, rather than poor performance.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the dataset, </a:t>
            </a: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remains stable (~₹1,000–1,100)</a:t>
            </a:r>
            <a:r>
              <a:rPr lang="en-US" sz="17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consistent pricing and customer spend across restaurants, regardless of order volume.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92757-8E43-1BA0-7909-B6331F4B9BCA}"/>
              </a:ext>
            </a:extLst>
          </p:cNvPr>
          <p:cNvSpPr txBox="1"/>
          <p:nvPr/>
        </p:nvSpPr>
        <p:spPr>
          <a:xfrm>
            <a:off x="3680410" y="900266"/>
            <a:ext cx="8044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Summarize restaurant-wise performance in terms of revenue, orders, and average order value for easy comparison and analysis.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C9C758-C61D-9BF4-090C-34F43C0FC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4349"/>
            <a:ext cx="3473375" cy="5449301"/>
          </a:xfrm>
          <a:prstGeom prst="rect">
            <a:avLst/>
          </a:prstGeom>
          <a:ln w="57150">
            <a:solidFill>
              <a:srgbClr val="E23744"/>
            </a:solidFill>
          </a:ln>
        </p:spPr>
      </p:pic>
    </p:spTree>
    <p:extLst>
      <p:ext uri="{BB962C8B-B14F-4D97-AF65-F5344CB8AC3E}">
        <p14:creationId xmlns:p14="http://schemas.microsoft.com/office/powerpoint/2010/main" val="406738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739-0E4C-2586-5D85-6FDB7C275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Insights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EFC15-4230-8E78-C61D-A2858E89FB84}"/>
              </a:ext>
            </a:extLst>
          </p:cNvPr>
          <p:cNvSpPr txBox="1"/>
          <p:nvPr/>
        </p:nvSpPr>
        <p:spPr>
          <a:xfrm>
            <a:off x="3600449" y="834636"/>
            <a:ext cx="8239991" cy="2819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 is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concentrated in metro cities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(Mumbai, Bangalore lead) but relatively balanced across 5 cities.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performance is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driven by a few top restaurants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many others show potential for growth.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is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(~₹1,040)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restaurants, indicating consistent customer spending behavior.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Areas contribute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almost evenly to revenue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no extreme dependency on one locality.</a:t>
            </a:r>
            <a:endParaRPr lang="en-US" sz="1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DF83E-CE34-A582-39D5-1A23A585DB34}"/>
              </a:ext>
            </a:extLst>
          </p:cNvPr>
          <p:cNvSpPr txBox="1"/>
          <p:nvPr/>
        </p:nvSpPr>
        <p:spPr>
          <a:xfrm>
            <a:off x="3600449" y="3934728"/>
            <a:ext cx="8162059" cy="251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partnerships &amp; marketing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top-performing cities/restaurants to sustain growth.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new/low-order restaurants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promotions and visibility boosts to accelerate adoption. 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into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Tier-2 and Tier-3 cities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unlock untapped demand and reduce reliance on metros.</a:t>
            </a: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AOV improvement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upselling, combos, and premium offerings.</a:t>
            </a:r>
            <a:endParaRPr lang="en-IN" sz="18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59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thank you">
            <a:extLst>
              <a:ext uri="{FF2B5EF4-FFF2-40B4-BE49-F238E27FC236}">
                <a16:creationId xmlns:a16="http://schemas.microsoft.com/office/drawing/2014/main" id="{FC70813A-3FFD-C7AB-059E-265D9FBC2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129" y="1366837"/>
            <a:ext cx="7315200" cy="4114800"/>
          </a:xfrm>
        </p:spPr>
      </p:pic>
      <p:pic>
        <p:nvPicPr>
          <p:cNvPr id="9" name="Picture 8" descr="A person on a scooter&#10;&#10;AI-generated content may be incorrect.">
            <a:extLst>
              <a:ext uri="{FF2B5EF4-FFF2-40B4-BE49-F238E27FC236}">
                <a16:creationId xmlns:a16="http://schemas.microsoft.com/office/drawing/2014/main" id="{023F1129-3381-6966-5EA3-8449D45DC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8" y="2566987"/>
            <a:ext cx="322811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6732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Custom 1">
      <a:dk1>
        <a:srgbClr val="7F7F7F"/>
      </a:dk1>
      <a:lt1>
        <a:sysClr val="window" lastClr="FFFFFF"/>
      </a:lt1>
      <a:dk2>
        <a:srgbClr val="696464"/>
      </a:dk2>
      <a:lt2>
        <a:srgbClr val="E9E5DC"/>
      </a:lt2>
      <a:accent1>
        <a:srgbClr val="CB202D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3419</TotalTime>
  <Words>1680</Words>
  <Application>Microsoft Office PowerPoint</Application>
  <PresentationFormat>Widescreen</PresentationFormat>
  <Paragraphs>125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Corbel</vt:lpstr>
      <vt:lpstr>Wingdings 2</vt:lpstr>
      <vt:lpstr>Frame</vt:lpstr>
      <vt:lpstr>Zomato Order &amp; Restaurant Analysis Using Power BI</vt:lpstr>
      <vt:lpstr>Project Roadmap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Insights &amp;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MALHOTRA</dc:creator>
  <cp:lastModifiedBy>DHRUV MALHOTRA</cp:lastModifiedBy>
  <cp:revision>2</cp:revision>
  <dcterms:created xsi:type="dcterms:W3CDTF">2025-08-19T10:12:44Z</dcterms:created>
  <dcterms:modified xsi:type="dcterms:W3CDTF">2025-11-29T18:39:35Z</dcterms:modified>
</cp:coreProperties>
</file>